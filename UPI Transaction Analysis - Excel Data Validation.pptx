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ileron Bold" charset="1" panose="00000800000000000000"/>
      <p:regular r:id="rId17"/>
    </p:embeddedFont>
    <p:embeddedFont>
      <p:font typeface="Aileron" charset="1" panose="00000500000000000000"/>
      <p:regular r:id="rId18"/>
    </p:embeddedFont>
    <p:embeddedFont>
      <p:font typeface="Poppins Bold" charset="1" panose="00000800000000000000"/>
      <p:regular r:id="rId19"/>
    </p:embeddedFont>
    <p:embeddedFont>
      <p:font typeface="Lato Bold" charset="1" panose="020F0502020204030203"/>
      <p:regular r:id="rId20"/>
    </p:embeddedFont>
    <p:embeddedFont>
      <p:font typeface="Lato" charset="1" panose="020F0502020204030203"/>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8700" y="583032"/>
            <a:ext cx="3943912" cy="811326"/>
            <a:chOff x="0" y="0"/>
            <a:chExt cx="1038726" cy="213682"/>
          </a:xfrm>
        </p:grpSpPr>
        <p:sp>
          <p:nvSpPr>
            <p:cNvPr name="Freeform 4" id="4"/>
            <p:cNvSpPr/>
            <p:nvPr/>
          </p:nvSpPr>
          <p:spPr>
            <a:xfrm flipH="false" flipV="false" rot="0">
              <a:off x="0" y="0"/>
              <a:ext cx="1038726" cy="213682"/>
            </a:xfrm>
            <a:custGeom>
              <a:avLst/>
              <a:gdLst/>
              <a:ahLst/>
              <a:cxnLst/>
              <a:rect r="r" b="b" t="t" l="l"/>
              <a:pathLst>
                <a:path h="213682" w="1038726">
                  <a:moveTo>
                    <a:pt x="106841" y="0"/>
                  </a:moveTo>
                  <a:lnTo>
                    <a:pt x="931884" y="0"/>
                  </a:lnTo>
                  <a:cubicBezTo>
                    <a:pt x="960221" y="0"/>
                    <a:pt x="987396" y="11256"/>
                    <a:pt x="1007433" y="31293"/>
                  </a:cubicBezTo>
                  <a:cubicBezTo>
                    <a:pt x="1027469" y="51330"/>
                    <a:pt x="1038726" y="78505"/>
                    <a:pt x="1038726" y="106841"/>
                  </a:cubicBezTo>
                  <a:lnTo>
                    <a:pt x="1038726" y="106841"/>
                  </a:lnTo>
                  <a:cubicBezTo>
                    <a:pt x="1038726" y="165848"/>
                    <a:pt x="990891" y="213682"/>
                    <a:pt x="931884" y="213682"/>
                  </a:cubicBezTo>
                  <a:lnTo>
                    <a:pt x="106841" y="213682"/>
                  </a:lnTo>
                  <a:cubicBezTo>
                    <a:pt x="78505" y="213682"/>
                    <a:pt x="51330" y="202426"/>
                    <a:pt x="31293" y="182389"/>
                  </a:cubicBezTo>
                  <a:cubicBezTo>
                    <a:pt x="11256" y="162353"/>
                    <a:pt x="0" y="135177"/>
                    <a:pt x="0" y="106841"/>
                  </a:cubicBezTo>
                  <a:lnTo>
                    <a:pt x="0" y="106841"/>
                  </a:lnTo>
                  <a:cubicBezTo>
                    <a:pt x="0" y="78505"/>
                    <a:pt x="11256" y="51330"/>
                    <a:pt x="31293" y="31293"/>
                  </a:cubicBezTo>
                  <a:cubicBezTo>
                    <a:pt x="51330" y="11256"/>
                    <a:pt x="78505" y="0"/>
                    <a:pt x="106841" y="0"/>
                  </a:cubicBezTo>
                  <a:close/>
                </a:path>
              </a:pathLst>
            </a:custGeom>
            <a:ln w="19050" cap="rnd">
              <a:solidFill>
                <a:srgbClr val="FFFFFF"/>
              </a:solidFill>
              <a:prstDash val="solid"/>
              <a:round/>
            </a:ln>
          </p:spPr>
        </p:sp>
        <p:sp>
          <p:nvSpPr>
            <p:cNvPr name="TextBox 5" id="5"/>
            <p:cNvSpPr txBox="true"/>
            <p:nvPr/>
          </p:nvSpPr>
          <p:spPr>
            <a:xfrm>
              <a:off x="0" y="-57150"/>
              <a:ext cx="1038726" cy="270832"/>
            </a:xfrm>
            <a:prstGeom prst="rect">
              <a:avLst/>
            </a:prstGeom>
          </p:spPr>
          <p:txBody>
            <a:bodyPr anchor="ctr" rtlCol="false" tIns="50800" lIns="50800" bIns="50800" rIns="50800"/>
            <a:lstStyle/>
            <a:p>
              <a:pPr algn="ctr">
                <a:lnSpc>
                  <a:spcPts val="4199"/>
                </a:lnSpc>
              </a:pPr>
              <a:r>
                <a:rPr lang="en-US" b="true" sz="2999">
                  <a:solidFill>
                    <a:srgbClr val="FFFFFF"/>
                  </a:solidFill>
                  <a:latin typeface="Aileron Bold"/>
                  <a:ea typeface="Aileron Bold"/>
                  <a:cs typeface="Aileron Bold"/>
                  <a:sym typeface="Aileron Bold"/>
                </a:rPr>
                <a:t>Capstone Project</a:t>
              </a:r>
            </a:p>
          </p:txBody>
        </p:sp>
      </p:grpSp>
      <p:sp>
        <p:nvSpPr>
          <p:cNvPr name="TextBox 6" id="6"/>
          <p:cNvSpPr txBox="true"/>
          <p:nvPr/>
        </p:nvSpPr>
        <p:spPr>
          <a:xfrm rot="0">
            <a:off x="725985" y="2969642"/>
            <a:ext cx="11115713" cy="2173858"/>
          </a:xfrm>
          <a:prstGeom prst="rect">
            <a:avLst/>
          </a:prstGeom>
        </p:spPr>
        <p:txBody>
          <a:bodyPr anchor="t" rtlCol="false" tIns="0" lIns="0" bIns="0" rIns="0">
            <a:spAutoFit/>
          </a:bodyPr>
          <a:lstStyle/>
          <a:p>
            <a:pPr algn="l">
              <a:lnSpc>
                <a:spcPts val="8334"/>
              </a:lnSpc>
            </a:pPr>
            <a:r>
              <a:rPr lang="en-US" sz="8334" spc="-308" b="true">
                <a:solidFill>
                  <a:srgbClr val="FFFFFF"/>
                </a:solidFill>
                <a:latin typeface="Aileron Bold"/>
                <a:ea typeface="Aileron Bold"/>
                <a:cs typeface="Aileron Bold"/>
                <a:sym typeface="Aileron Bold"/>
              </a:rPr>
              <a:t>DA</a:t>
            </a:r>
            <a:r>
              <a:rPr lang="en-US" b="true" sz="8334" spc="-308">
                <a:solidFill>
                  <a:srgbClr val="FFFFFF"/>
                </a:solidFill>
                <a:latin typeface="Aileron Bold"/>
                <a:ea typeface="Aileron Bold"/>
                <a:cs typeface="Aileron Bold"/>
                <a:sym typeface="Aileron Bold"/>
              </a:rPr>
              <a:t>TA VALIDATION USING EXCEL</a:t>
            </a:r>
          </a:p>
        </p:txBody>
      </p:sp>
      <p:sp>
        <p:nvSpPr>
          <p:cNvPr name="TextBox 7" id="7"/>
          <p:cNvSpPr txBox="true"/>
          <p:nvPr/>
        </p:nvSpPr>
        <p:spPr>
          <a:xfrm rot="0">
            <a:off x="725985" y="5504920"/>
            <a:ext cx="9684322" cy="2549420"/>
          </a:xfrm>
          <a:prstGeom prst="rect">
            <a:avLst/>
          </a:prstGeom>
        </p:spPr>
        <p:txBody>
          <a:bodyPr anchor="t" rtlCol="false" tIns="0" lIns="0" bIns="0" rIns="0">
            <a:spAutoFit/>
          </a:bodyPr>
          <a:lstStyle/>
          <a:p>
            <a:pPr algn="l">
              <a:lnSpc>
                <a:spcPts val="3995"/>
              </a:lnSpc>
            </a:pPr>
            <a:r>
              <a:rPr lang="en-US" sz="3995" spc="-147">
                <a:solidFill>
                  <a:srgbClr val="FFFFFF">
                    <a:alpha val="36863"/>
                  </a:srgbClr>
                </a:solidFill>
                <a:latin typeface="Aileron"/>
                <a:ea typeface="Aileron"/>
                <a:cs typeface="Aileron"/>
                <a:sym typeface="Aileron"/>
              </a:rPr>
              <a:t>UPI Transaction Analysis Capstone Project</a:t>
            </a:r>
          </a:p>
          <a:p>
            <a:pPr algn="l" marL="862710" indent="-431355" lvl="1">
              <a:lnSpc>
                <a:spcPts val="3995"/>
              </a:lnSpc>
              <a:buFont typeface="Arial"/>
              <a:buChar char="•"/>
            </a:pPr>
            <a:r>
              <a:rPr lang="en-US" sz="3995" spc="-147">
                <a:solidFill>
                  <a:srgbClr val="FFFFFF">
                    <a:alpha val="36863"/>
                  </a:srgbClr>
                </a:solidFill>
                <a:latin typeface="Aileron"/>
                <a:ea typeface="Aileron"/>
                <a:cs typeface="Aileron"/>
                <a:sym typeface="Aileron"/>
              </a:rPr>
              <a:t>Tool Used: Microsoft Excel</a:t>
            </a:r>
          </a:p>
          <a:p>
            <a:pPr algn="l" marL="862710" indent="-431355" lvl="1">
              <a:lnSpc>
                <a:spcPts val="3995"/>
              </a:lnSpc>
              <a:buFont typeface="Arial"/>
              <a:buChar char="•"/>
            </a:pPr>
            <a:r>
              <a:rPr lang="en-US" sz="3995" spc="-147">
                <a:solidFill>
                  <a:srgbClr val="FFFFFF">
                    <a:alpha val="36863"/>
                  </a:srgbClr>
                </a:solidFill>
                <a:latin typeface="Aileron"/>
                <a:ea typeface="Aileron"/>
                <a:cs typeface="Aileron"/>
                <a:sym typeface="Aileron"/>
              </a:rPr>
              <a:t>Purpose: Data Quality Assessment &amp; Relat</a:t>
            </a:r>
            <a:r>
              <a:rPr lang="en-US" sz="3995" spc="-147">
                <a:solidFill>
                  <a:srgbClr val="FFFFFF">
                    <a:alpha val="36863"/>
                  </a:srgbClr>
                </a:solidFill>
                <a:latin typeface="Aileron"/>
                <a:ea typeface="Aileron"/>
                <a:cs typeface="Aileron"/>
                <a:sym typeface="Aileron"/>
              </a:rPr>
              <a:t>ionship Validation</a:t>
            </a:r>
          </a:p>
          <a:p>
            <a:pPr algn="l">
              <a:lnSpc>
                <a:spcPts val="3995"/>
              </a:lnSpc>
            </a:pPr>
          </a:p>
        </p:txBody>
      </p:sp>
      <p:sp>
        <p:nvSpPr>
          <p:cNvPr name="TextBox 8" id="8"/>
          <p:cNvSpPr txBox="true"/>
          <p:nvPr/>
        </p:nvSpPr>
        <p:spPr>
          <a:xfrm rot="0">
            <a:off x="1539734" y="8645042"/>
            <a:ext cx="3490028" cy="389255"/>
          </a:xfrm>
          <a:prstGeom prst="rect">
            <a:avLst/>
          </a:prstGeom>
        </p:spPr>
        <p:txBody>
          <a:bodyPr anchor="t" rtlCol="false" tIns="0" lIns="0" bIns="0" rIns="0">
            <a:spAutoFit/>
          </a:bodyPr>
          <a:lstStyle/>
          <a:p>
            <a:pPr algn="l">
              <a:lnSpc>
                <a:spcPts val="3220"/>
              </a:lnSpc>
              <a:spcBef>
                <a:spcPct val="0"/>
              </a:spcBef>
            </a:pPr>
            <a:r>
              <a:rPr lang="en-US" sz="2300" b="true">
                <a:solidFill>
                  <a:srgbClr val="FFFFFF"/>
                </a:solidFill>
                <a:latin typeface="Aileron Bold"/>
                <a:ea typeface="Aileron Bold"/>
                <a:cs typeface="Aileron Bold"/>
                <a:sym typeface="Aileron Bold"/>
              </a:rPr>
              <a:t>Presented by :</a:t>
            </a:r>
          </a:p>
        </p:txBody>
      </p:sp>
      <p:sp>
        <p:nvSpPr>
          <p:cNvPr name="TextBox 9" id="9"/>
          <p:cNvSpPr txBox="true"/>
          <p:nvPr/>
        </p:nvSpPr>
        <p:spPr>
          <a:xfrm rot="0">
            <a:off x="1539734" y="9041546"/>
            <a:ext cx="3490028" cy="389255"/>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Aileron"/>
                <a:ea typeface="Aileron"/>
                <a:cs typeface="Aileron"/>
                <a:sym typeface="Aileron"/>
              </a:rPr>
              <a:t>Vishwajeet Kumar Gupta</a:t>
            </a:r>
          </a:p>
        </p:txBody>
      </p:sp>
      <p:sp>
        <p:nvSpPr>
          <p:cNvPr name="TextBox 10" id="10"/>
          <p:cNvSpPr txBox="true"/>
          <p:nvPr/>
        </p:nvSpPr>
        <p:spPr>
          <a:xfrm rot="0">
            <a:off x="7813945" y="8645042"/>
            <a:ext cx="2398653" cy="389255"/>
          </a:xfrm>
          <a:prstGeom prst="rect">
            <a:avLst/>
          </a:prstGeom>
        </p:spPr>
        <p:txBody>
          <a:bodyPr anchor="t" rtlCol="false" tIns="0" lIns="0" bIns="0" rIns="0">
            <a:spAutoFit/>
          </a:bodyPr>
          <a:lstStyle/>
          <a:p>
            <a:pPr algn="l">
              <a:lnSpc>
                <a:spcPts val="3220"/>
              </a:lnSpc>
              <a:spcBef>
                <a:spcPct val="0"/>
              </a:spcBef>
            </a:pPr>
            <a:r>
              <a:rPr lang="en-US" sz="2300" b="true">
                <a:solidFill>
                  <a:srgbClr val="FFFFFF"/>
                </a:solidFill>
                <a:latin typeface="Aileron Bold"/>
                <a:ea typeface="Aileron Bold"/>
                <a:cs typeface="Aileron Bold"/>
                <a:sym typeface="Aileron Bold"/>
              </a:rPr>
              <a:t>Email Address :</a:t>
            </a:r>
          </a:p>
        </p:txBody>
      </p:sp>
      <p:sp>
        <p:nvSpPr>
          <p:cNvPr name="TextBox 11" id="11"/>
          <p:cNvSpPr txBox="true"/>
          <p:nvPr/>
        </p:nvSpPr>
        <p:spPr>
          <a:xfrm rot="0">
            <a:off x="7813945" y="9041546"/>
            <a:ext cx="3782711" cy="389255"/>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Aileron"/>
                <a:ea typeface="Aileron"/>
                <a:cs typeface="Aileron"/>
                <a:sym typeface="Aileron"/>
              </a:rPr>
              <a:t>vishwajeetg399@gmail.com</a:t>
            </a:r>
          </a:p>
        </p:txBody>
      </p:sp>
      <p:sp>
        <p:nvSpPr>
          <p:cNvPr name="TextBox 12" id="12"/>
          <p:cNvSpPr txBox="true"/>
          <p:nvPr/>
        </p:nvSpPr>
        <p:spPr>
          <a:xfrm rot="0">
            <a:off x="16015456" y="9041546"/>
            <a:ext cx="1243844" cy="389255"/>
          </a:xfrm>
          <a:prstGeom prst="rect">
            <a:avLst/>
          </a:prstGeom>
        </p:spPr>
        <p:txBody>
          <a:bodyPr anchor="t" rtlCol="false" tIns="0" lIns="0" bIns="0" rIns="0">
            <a:spAutoFit/>
          </a:bodyPr>
          <a:lstStyle/>
          <a:p>
            <a:pPr algn="r">
              <a:lnSpc>
                <a:spcPts val="3220"/>
              </a:lnSpc>
              <a:spcBef>
                <a:spcPct val="0"/>
              </a:spcBef>
            </a:pPr>
            <a:r>
              <a:rPr lang="en-US" sz="2300">
                <a:solidFill>
                  <a:srgbClr val="FFFFFF"/>
                </a:solidFill>
                <a:latin typeface="Aileron"/>
                <a:ea typeface="Aileron"/>
                <a:cs typeface="Aileron"/>
                <a:sym typeface="Aileron"/>
              </a:rPr>
              <a:t>2026</a:t>
            </a:r>
          </a:p>
        </p:txBody>
      </p:sp>
      <p:sp>
        <p:nvSpPr>
          <p:cNvPr name="Freeform 13" id="13"/>
          <p:cNvSpPr/>
          <p:nvPr/>
        </p:nvSpPr>
        <p:spPr>
          <a:xfrm flipH="false" flipV="true" rot="-1542318">
            <a:off x="12037037"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3"/>
            <a:stretch>
              <a:fillRect l="0" t="0" r="0" b="0"/>
            </a:stretch>
          </a:blipFill>
        </p:spPr>
      </p:sp>
      <p:sp>
        <p:nvSpPr>
          <p:cNvPr name="Freeform 14" id="14"/>
          <p:cNvSpPr/>
          <p:nvPr/>
        </p:nvSpPr>
        <p:spPr>
          <a:xfrm flipH="false" flipV="false" rot="0">
            <a:off x="-3545572" y="7342257"/>
            <a:ext cx="5747719" cy="3384081"/>
          </a:xfrm>
          <a:custGeom>
            <a:avLst/>
            <a:gdLst/>
            <a:ahLst/>
            <a:cxnLst/>
            <a:rect r="r" b="b" t="t" l="l"/>
            <a:pathLst>
              <a:path h="3384081" w="5747719">
                <a:moveTo>
                  <a:pt x="0" y="0"/>
                </a:moveTo>
                <a:lnTo>
                  <a:pt x="5747719" y="0"/>
                </a:lnTo>
                <a:lnTo>
                  <a:pt x="5747719" y="3384080"/>
                </a:lnTo>
                <a:lnTo>
                  <a:pt x="0" y="3384080"/>
                </a:lnTo>
                <a:lnTo>
                  <a:pt x="0" y="0"/>
                </a:lnTo>
                <a:close/>
              </a:path>
            </a:pathLst>
          </a:custGeom>
          <a:blipFill>
            <a:blip r:embed="rId4"/>
            <a:stretch>
              <a:fillRect l="-18302" t="0" r="0" b="-143185"/>
            </a:stretch>
          </a:blipFill>
        </p:spPr>
      </p:sp>
      <p:sp>
        <p:nvSpPr>
          <p:cNvPr name="Freeform 15" id="1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86915" y="793116"/>
            <a:ext cx="13038911" cy="852170"/>
          </a:xfrm>
          <a:prstGeom prst="rect">
            <a:avLst/>
          </a:prstGeom>
        </p:spPr>
        <p:txBody>
          <a:bodyPr anchor="t" rtlCol="false" tIns="0" lIns="0" bIns="0" rIns="0">
            <a:spAutoFit/>
          </a:bodyPr>
          <a:lstStyle/>
          <a:p>
            <a:pPr algn="ctr">
              <a:lnSpc>
                <a:spcPts val="6159"/>
              </a:lnSpc>
            </a:pPr>
            <a:r>
              <a:rPr lang="en-US" b="true" sz="5599">
                <a:solidFill>
                  <a:srgbClr val="FFD944"/>
                </a:solidFill>
                <a:latin typeface="Poppins Bold"/>
                <a:ea typeface="Poppins Bold"/>
                <a:cs typeface="Poppins Bold"/>
                <a:sym typeface="Poppins Bold"/>
              </a:rPr>
              <a:t>VALIDA</a:t>
            </a:r>
            <a:r>
              <a:rPr lang="en-US" b="true" sz="5599">
                <a:solidFill>
                  <a:srgbClr val="FFD944"/>
                </a:solidFill>
                <a:latin typeface="Poppins Bold"/>
                <a:ea typeface="Poppins Bold"/>
                <a:cs typeface="Poppins Bold"/>
                <a:sym typeface="Poppins Bold"/>
              </a:rPr>
              <a:t>TION OBJECTIVES</a:t>
            </a:r>
          </a:p>
        </p:txBody>
      </p:sp>
      <p:sp>
        <p:nvSpPr>
          <p:cNvPr name="TextBox 7" id="7"/>
          <p:cNvSpPr txBox="true"/>
          <p:nvPr/>
        </p:nvSpPr>
        <p:spPr>
          <a:xfrm rot="0">
            <a:off x="816645" y="2966024"/>
            <a:ext cx="13452858" cy="5217374"/>
          </a:xfrm>
          <a:prstGeom prst="rect">
            <a:avLst/>
          </a:prstGeom>
        </p:spPr>
        <p:txBody>
          <a:bodyPr anchor="t" rtlCol="false" tIns="0" lIns="0" bIns="0" rIns="0">
            <a:spAutoFit/>
          </a:bodyPr>
          <a:lstStyle/>
          <a:p>
            <a:pPr algn="l" marL="938611" indent="-469305" lvl="1">
              <a:lnSpc>
                <a:spcPts val="6086"/>
              </a:lnSpc>
              <a:buFont typeface="Arial"/>
              <a:buChar char="•"/>
            </a:pPr>
            <a:r>
              <a:rPr lang="en-US" b="true" sz="4347">
                <a:solidFill>
                  <a:srgbClr val="E5E1DA"/>
                </a:solidFill>
                <a:latin typeface="Lato Bold"/>
                <a:ea typeface="Lato Bold"/>
                <a:cs typeface="Lato Bold"/>
                <a:sym typeface="Lato Bold"/>
              </a:rPr>
              <a:t>Verify foreig</a:t>
            </a:r>
            <a:r>
              <a:rPr lang="en-US" b="true" sz="4347">
                <a:solidFill>
                  <a:srgbClr val="E5E1DA"/>
                </a:solidFill>
                <a:latin typeface="Lato Bold"/>
                <a:ea typeface="Lato Bold"/>
                <a:cs typeface="Lato Bold"/>
                <a:sym typeface="Lato Bold"/>
              </a:rPr>
              <a:t>n key relationships across datasets</a:t>
            </a:r>
          </a:p>
          <a:p>
            <a:pPr algn="l" marL="938611" indent="-469305" lvl="1">
              <a:lnSpc>
                <a:spcPts val="6086"/>
              </a:lnSpc>
              <a:buFont typeface="Arial"/>
              <a:buChar char="•"/>
            </a:pPr>
            <a:r>
              <a:rPr lang="en-US" b="true" sz="4347">
                <a:solidFill>
                  <a:srgbClr val="E5E1DA"/>
                </a:solidFill>
                <a:latin typeface="Lato Bold"/>
                <a:ea typeface="Lato Bold"/>
                <a:cs typeface="Lato Bold"/>
                <a:sym typeface="Lato Bold"/>
              </a:rPr>
              <a:t>Identify missing and inconsistent records</a:t>
            </a:r>
          </a:p>
          <a:p>
            <a:pPr algn="l" marL="938611" indent="-469305" lvl="1">
              <a:lnSpc>
                <a:spcPts val="6086"/>
              </a:lnSpc>
              <a:buFont typeface="Arial"/>
              <a:buChar char="•"/>
            </a:pPr>
            <a:r>
              <a:rPr lang="en-US" b="true" sz="4347">
                <a:solidFill>
                  <a:srgbClr val="E5E1DA"/>
                </a:solidFill>
                <a:latin typeface="Lato Bold"/>
                <a:ea typeface="Lato Bold"/>
                <a:cs typeface="Lato Bold"/>
                <a:sym typeface="Lato Bold"/>
              </a:rPr>
              <a:t>Ensure data integrity before analysis</a:t>
            </a:r>
          </a:p>
          <a:p>
            <a:pPr algn="l" marL="938611" indent="-469305" lvl="1">
              <a:lnSpc>
                <a:spcPts val="6086"/>
              </a:lnSpc>
              <a:buFont typeface="Arial"/>
              <a:buChar char="•"/>
            </a:pPr>
            <a:r>
              <a:rPr lang="en-US" b="true" sz="4347">
                <a:solidFill>
                  <a:srgbClr val="E5E1DA"/>
                </a:solidFill>
                <a:latin typeface="Lato Bold"/>
                <a:ea typeface="Lato Bold"/>
                <a:cs typeface="Lato Bold"/>
                <a:sym typeface="Lato Bold"/>
              </a:rPr>
              <a:t>Validate customer_id, merchant_id, upi_id, device_id, and transaction_id references</a:t>
            </a:r>
          </a:p>
          <a:p>
            <a:pPr algn="l" marL="938611" indent="-469305" lvl="1">
              <a:lnSpc>
                <a:spcPts val="6086"/>
              </a:lnSpc>
              <a:buFont typeface="Arial"/>
              <a:buChar char="•"/>
            </a:pPr>
            <a:r>
              <a:rPr lang="en-US" b="true" sz="4347">
                <a:solidFill>
                  <a:srgbClr val="E5E1DA"/>
                </a:solidFill>
                <a:latin typeface="Lato Bold"/>
                <a:ea typeface="Lato Bold"/>
                <a:cs typeface="Lato Bold"/>
                <a:sym typeface="Lato Bold"/>
              </a:rPr>
              <a:t>Prepare clean data for Python, SQL, and Power BI</a:t>
            </a:r>
          </a:p>
          <a:p>
            <a:pPr algn="l">
              <a:lnSpc>
                <a:spcPts val="5272"/>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191258" y="4319080"/>
            <a:ext cx="13905484" cy="1341751"/>
          </a:xfrm>
          <a:prstGeom prst="rect">
            <a:avLst/>
          </a:prstGeom>
        </p:spPr>
        <p:txBody>
          <a:bodyPr anchor="t" rtlCol="false" tIns="0" lIns="0" bIns="0" rIns="0">
            <a:spAutoFit/>
          </a:bodyPr>
          <a:lstStyle/>
          <a:p>
            <a:pPr algn="ctr">
              <a:lnSpc>
                <a:spcPts val="9789"/>
              </a:lnSpc>
            </a:pPr>
            <a:r>
              <a:rPr lang="en-US" b="true" sz="8899">
                <a:solidFill>
                  <a:srgbClr val="FFD944"/>
                </a:solidFill>
                <a:latin typeface="Poppins Bold"/>
                <a:ea typeface="Poppins Bold"/>
                <a:cs typeface="Poppins Bold"/>
                <a:sym typeface="Poppins Bold"/>
              </a:rPr>
              <a:t>VALID</a:t>
            </a:r>
            <a:r>
              <a:rPr lang="en-US" b="true" sz="8899">
                <a:solidFill>
                  <a:srgbClr val="FFD944"/>
                </a:solidFill>
                <a:latin typeface="Poppins Bold"/>
                <a:ea typeface="Poppins Bold"/>
                <a:cs typeface="Poppins Bold"/>
                <a:sym typeface="Poppins Bold"/>
              </a:rPr>
              <a:t>ATION PROCESS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154122" y="2326613"/>
            <a:ext cx="11228213" cy="3323667"/>
          </a:xfrm>
          <a:custGeom>
            <a:avLst/>
            <a:gdLst/>
            <a:ahLst/>
            <a:cxnLst/>
            <a:rect r="r" b="b" t="t" l="l"/>
            <a:pathLst>
              <a:path h="3323667" w="11228213">
                <a:moveTo>
                  <a:pt x="0" y="0"/>
                </a:moveTo>
                <a:lnTo>
                  <a:pt x="11228213" y="0"/>
                </a:lnTo>
                <a:lnTo>
                  <a:pt x="11228213" y="3323667"/>
                </a:lnTo>
                <a:lnTo>
                  <a:pt x="0" y="3323667"/>
                </a:lnTo>
                <a:lnTo>
                  <a:pt x="0" y="0"/>
                </a:lnTo>
                <a:close/>
              </a:path>
            </a:pathLst>
          </a:custGeom>
          <a:blipFill>
            <a:blip r:embed="rId7"/>
            <a:stretch>
              <a:fillRect l="0" t="0" r="0" b="0"/>
            </a:stretch>
          </a:blipFill>
        </p:spPr>
      </p:sp>
      <p:sp>
        <p:nvSpPr>
          <p:cNvPr name="TextBox 7" id="7"/>
          <p:cNvSpPr txBox="true"/>
          <p:nvPr/>
        </p:nvSpPr>
        <p:spPr>
          <a:xfrm rot="0">
            <a:off x="1248773" y="301625"/>
            <a:ext cx="13038911" cy="1454150"/>
          </a:xfrm>
          <a:prstGeom prst="rect">
            <a:avLst/>
          </a:prstGeom>
        </p:spPr>
        <p:txBody>
          <a:bodyPr anchor="t" rtlCol="false" tIns="0" lIns="0" bIns="0" rIns="0">
            <a:spAutoFit/>
          </a:bodyPr>
          <a:lstStyle/>
          <a:p>
            <a:pPr algn="ctr">
              <a:lnSpc>
                <a:spcPts val="5500"/>
              </a:lnSpc>
            </a:pPr>
            <a:r>
              <a:rPr lang="en-US" b="true" sz="5000">
                <a:solidFill>
                  <a:srgbClr val="FFD944"/>
                </a:solidFill>
                <a:latin typeface="Poppins Bold"/>
                <a:ea typeface="Poppins Bold"/>
                <a:cs typeface="Poppins Bold"/>
                <a:sym typeface="Poppins Bold"/>
              </a:rPr>
              <a:t>CUSTOMER_ID VALID</a:t>
            </a:r>
            <a:r>
              <a:rPr lang="en-US" b="true" sz="5000">
                <a:solidFill>
                  <a:srgbClr val="FFD944"/>
                </a:solidFill>
                <a:latin typeface="Poppins Bold"/>
                <a:ea typeface="Poppins Bold"/>
                <a:cs typeface="Poppins Bold"/>
                <a:sym typeface="Poppins Bold"/>
              </a:rPr>
              <a:t>ATION IN UPI_ACCOUNT_DETAILS</a:t>
            </a:r>
          </a:p>
        </p:txBody>
      </p:sp>
      <p:sp>
        <p:nvSpPr>
          <p:cNvPr name="TextBox 8" id="8"/>
          <p:cNvSpPr txBox="true"/>
          <p:nvPr/>
        </p:nvSpPr>
        <p:spPr>
          <a:xfrm rot="0">
            <a:off x="6988829" y="6965108"/>
            <a:ext cx="9822261" cy="2681219"/>
          </a:xfrm>
          <a:prstGeom prst="rect">
            <a:avLst/>
          </a:prstGeom>
        </p:spPr>
        <p:txBody>
          <a:bodyPr anchor="t" rtlCol="false" tIns="0" lIns="0" bIns="0" rIns="0">
            <a:spAutoFit/>
          </a:bodyPr>
          <a:lstStyle/>
          <a:p>
            <a:pPr algn="l">
              <a:lnSpc>
                <a:spcPts val="4746"/>
              </a:lnSpc>
            </a:pPr>
            <a:r>
              <a:rPr lang="en-US" sz="3390" b="true">
                <a:solidFill>
                  <a:srgbClr val="E5E1DA"/>
                </a:solidFill>
                <a:latin typeface="Lato Bold"/>
                <a:ea typeface="Lato Bold"/>
                <a:cs typeface="Lato Bold"/>
                <a:sym typeface="Lato Bold"/>
              </a:rPr>
              <a:t>Insights</a:t>
            </a:r>
          </a:p>
          <a:p>
            <a:pPr algn="l">
              <a:lnSpc>
                <a:spcPts val="4186"/>
              </a:lnSpc>
              <a:spcBef>
                <a:spcPct val="0"/>
              </a:spcBef>
            </a:pPr>
            <a:r>
              <a:rPr lang="en-US" sz="2990">
                <a:solidFill>
                  <a:srgbClr val="E5E1DA"/>
                </a:solidFill>
                <a:latin typeface="Lato"/>
                <a:ea typeface="Lato"/>
                <a:cs typeface="Lato"/>
                <a:sym typeface="Lato"/>
              </a:rPr>
              <a:t>Al</a:t>
            </a:r>
            <a:r>
              <a:rPr lang="en-US" sz="2990">
                <a:solidFill>
                  <a:srgbClr val="E5E1DA"/>
                </a:solidFill>
                <a:latin typeface="Lato"/>
                <a:ea typeface="Lato"/>
                <a:cs typeface="Lato"/>
                <a:sym typeface="Lato"/>
              </a:rPr>
              <a:t>l customer_id values in upi_account_details were successfully matched with customer_master. No invalid customer records were found, confirming data consistency and referential integrity across datasets.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304615" y="2194099"/>
            <a:ext cx="10826121" cy="3718394"/>
          </a:xfrm>
          <a:custGeom>
            <a:avLst/>
            <a:gdLst/>
            <a:ahLst/>
            <a:cxnLst/>
            <a:rect r="r" b="b" t="t" l="l"/>
            <a:pathLst>
              <a:path h="3718394" w="10826121">
                <a:moveTo>
                  <a:pt x="0" y="0"/>
                </a:moveTo>
                <a:lnTo>
                  <a:pt x="10826122" y="0"/>
                </a:lnTo>
                <a:lnTo>
                  <a:pt x="10826122" y="3718394"/>
                </a:lnTo>
                <a:lnTo>
                  <a:pt x="0" y="3718394"/>
                </a:lnTo>
                <a:lnTo>
                  <a:pt x="0" y="0"/>
                </a:lnTo>
                <a:close/>
              </a:path>
            </a:pathLst>
          </a:custGeom>
          <a:blipFill>
            <a:blip r:embed="rId7"/>
            <a:stretch>
              <a:fillRect l="0" t="0" r="0" b="0"/>
            </a:stretch>
          </a:blipFill>
        </p:spPr>
      </p:sp>
      <p:sp>
        <p:nvSpPr>
          <p:cNvPr name="TextBox 7" id="7"/>
          <p:cNvSpPr txBox="true"/>
          <p:nvPr/>
        </p:nvSpPr>
        <p:spPr>
          <a:xfrm rot="0">
            <a:off x="1248773" y="301625"/>
            <a:ext cx="13038911" cy="1454150"/>
          </a:xfrm>
          <a:prstGeom prst="rect">
            <a:avLst/>
          </a:prstGeom>
        </p:spPr>
        <p:txBody>
          <a:bodyPr anchor="t" rtlCol="false" tIns="0" lIns="0" bIns="0" rIns="0">
            <a:spAutoFit/>
          </a:bodyPr>
          <a:lstStyle/>
          <a:p>
            <a:pPr algn="ctr">
              <a:lnSpc>
                <a:spcPts val="5500"/>
              </a:lnSpc>
            </a:pPr>
            <a:r>
              <a:rPr lang="en-US" b="true" sz="5000">
                <a:solidFill>
                  <a:srgbClr val="FFD944"/>
                </a:solidFill>
                <a:latin typeface="Poppins Bold"/>
                <a:ea typeface="Poppins Bold"/>
                <a:cs typeface="Poppins Bold"/>
                <a:sym typeface="Poppins Bold"/>
              </a:rPr>
              <a:t>CUSTOMER_ID VALID</a:t>
            </a:r>
            <a:r>
              <a:rPr lang="en-US" b="true" sz="5000">
                <a:solidFill>
                  <a:srgbClr val="FFD944"/>
                </a:solidFill>
                <a:latin typeface="Poppins Bold"/>
                <a:ea typeface="Poppins Bold"/>
                <a:cs typeface="Poppins Bold"/>
                <a:sym typeface="Poppins Bold"/>
              </a:rPr>
              <a:t>ATION IN DEVICE_INFO</a:t>
            </a:r>
          </a:p>
        </p:txBody>
      </p:sp>
      <p:sp>
        <p:nvSpPr>
          <p:cNvPr name="TextBox 8" id="8"/>
          <p:cNvSpPr txBox="true"/>
          <p:nvPr/>
        </p:nvSpPr>
        <p:spPr>
          <a:xfrm rot="0">
            <a:off x="6988829" y="6965108"/>
            <a:ext cx="9822261" cy="2681219"/>
          </a:xfrm>
          <a:prstGeom prst="rect">
            <a:avLst/>
          </a:prstGeom>
        </p:spPr>
        <p:txBody>
          <a:bodyPr anchor="t" rtlCol="false" tIns="0" lIns="0" bIns="0" rIns="0">
            <a:spAutoFit/>
          </a:bodyPr>
          <a:lstStyle/>
          <a:p>
            <a:pPr algn="l">
              <a:lnSpc>
                <a:spcPts val="4746"/>
              </a:lnSpc>
            </a:pPr>
            <a:r>
              <a:rPr lang="en-US" sz="3390" b="true">
                <a:solidFill>
                  <a:srgbClr val="E5E1DA"/>
                </a:solidFill>
                <a:latin typeface="Lato Bold"/>
                <a:ea typeface="Lato Bold"/>
                <a:cs typeface="Lato Bold"/>
                <a:sym typeface="Lato Bold"/>
              </a:rPr>
              <a:t>Insights</a:t>
            </a:r>
          </a:p>
          <a:p>
            <a:pPr algn="l">
              <a:lnSpc>
                <a:spcPts val="4186"/>
              </a:lnSpc>
              <a:spcBef>
                <a:spcPct val="0"/>
              </a:spcBef>
            </a:pPr>
            <a:r>
              <a:rPr lang="en-US" sz="2990">
                <a:solidFill>
                  <a:srgbClr val="E5E1DA"/>
                </a:solidFill>
                <a:latin typeface="Lato"/>
                <a:ea typeface="Lato"/>
                <a:cs typeface="Lato"/>
                <a:sym typeface="Lato"/>
              </a:rPr>
              <a:t>Al</a:t>
            </a:r>
            <a:r>
              <a:rPr lang="en-US" sz="2990">
                <a:solidFill>
                  <a:srgbClr val="E5E1DA"/>
                </a:solidFill>
                <a:latin typeface="Lato"/>
                <a:ea typeface="Lato"/>
                <a:cs typeface="Lato"/>
                <a:sym typeface="Lato"/>
              </a:rPr>
              <a:t>l customer_id values in device_info were successfully matched with customer_master. No invalid customer records were found, confirming data integrity and accurate customer-device mapping.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13700" y="3730481"/>
            <a:ext cx="16660600" cy="2207529"/>
          </a:xfrm>
          <a:custGeom>
            <a:avLst/>
            <a:gdLst/>
            <a:ahLst/>
            <a:cxnLst/>
            <a:rect r="r" b="b" t="t" l="l"/>
            <a:pathLst>
              <a:path h="2207529" w="16660600">
                <a:moveTo>
                  <a:pt x="0" y="0"/>
                </a:moveTo>
                <a:lnTo>
                  <a:pt x="16660600" y="0"/>
                </a:lnTo>
                <a:lnTo>
                  <a:pt x="16660600" y="2207530"/>
                </a:lnTo>
                <a:lnTo>
                  <a:pt x="0" y="2207530"/>
                </a:lnTo>
                <a:lnTo>
                  <a:pt x="0" y="0"/>
                </a:lnTo>
                <a:close/>
              </a:path>
            </a:pathLst>
          </a:custGeom>
          <a:blipFill>
            <a:blip r:embed="rId7"/>
            <a:stretch>
              <a:fillRect l="0" t="0" r="0" b="0"/>
            </a:stretch>
          </a:blipFill>
        </p:spPr>
      </p:sp>
      <p:sp>
        <p:nvSpPr>
          <p:cNvPr name="TextBox 7" id="7"/>
          <p:cNvSpPr txBox="true"/>
          <p:nvPr/>
        </p:nvSpPr>
        <p:spPr>
          <a:xfrm rot="0">
            <a:off x="1248773" y="301625"/>
            <a:ext cx="13038911" cy="1454150"/>
          </a:xfrm>
          <a:prstGeom prst="rect">
            <a:avLst/>
          </a:prstGeom>
        </p:spPr>
        <p:txBody>
          <a:bodyPr anchor="t" rtlCol="false" tIns="0" lIns="0" bIns="0" rIns="0">
            <a:spAutoFit/>
          </a:bodyPr>
          <a:lstStyle/>
          <a:p>
            <a:pPr algn="ctr">
              <a:lnSpc>
                <a:spcPts val="5500"/>
              </a:lnSpc>
            </a:pPr>
            <a:r>
              <a:rPr lang="en-US" b="true" sz="5000">
                <a:solidFill>
                  <a:srgbClr val="FFD944"/>
                </a:solidFill>
                <a:latin typeface="Poppins Bold"/>
                <a:ea typeface="Poppins Bold"/>
                <a:cs typeface="Poppins Bold"/>
                <a:sym typeface="Poppins Bold"/>
              </a:rPr>
              <a:t>FOREIGN KEY VALID</a:t>
            </a:r>
            <a:r>
              <a:rPr lang="en-US" b="true" sz="5000">
                <a:solidFill>
                  <a:srgbClr val="FFD944"/>
                </a:solidFill>
                <a:latin typeface="Poppins Bold"/>
                <a:ea typeface="Poppins Bold"/>
                <a:cs typeface="Poppins Bold"/>
                <a:sym typeface="Poppins Bold"/>
              </a:rPr>
              <a:t>ATION IN TRANSACTION HISTORY</a:t>
            </a:r>
          </a:p>
        </p:txBody>
      </p:sp>
      <p:sp>
        <p:nvSpPr>
          <p:cNvPr name="TextBox 8" id="8"/>
          <p:cNvSpPr txBox="true"/>
          <p:nvPr/>
        </p:nvSpPr>
        <p:spPr>
          <a:xfrm rot="0">
            <a:off x="6988829" y="6741476"/>
            <a:ext cx="9822261" cy="3205094"/>
          </a:xfrm>
          <a:prstGeom prst="rect">
            <a:avLst/>
          </a:prstGeom>
        </p:spPr>
        <p:txBody>
          <a:bodyPr anchor="t" rtlCol="false" tIns="0" lIns="0" bIns="0" rIns="0">
            <a:spAutoFit/>
          </a:bodyPr>
          <a:lstStyle/>
          <a:p>
            <a:pPr algn="l">
              <a:lnSpc>
                <a:spcPts val="4746"/>
              </a:lnSpc>
            </a:pPr>
            <a:r>
              <a:rPr lang="en-US" sz="3390" b="true">
                <a:solidFill>
                  <a:srgbClr val="E5E1DA"/>
                </a:solidFill>
                <a:latin typeface="Lato Bold"/>
                <a:ea typeface="Lato Bold"/>
                <a:cs typeface="Lato Bold"/>
                <a:sym typeface="Lato Bold"/>
              </a:rPr>
              <a:t>Insights</a:t>
            </a:r>
          </a:p>
          <a:p>
            <a:pPr algn="l">
              <a:lnSpc>
                <a:spcPts val="4186"/>
              </a:lnSpc>
              <a:spcBef>
                <a:spcPct val="0"/>
              </a:spcBef>
            </a:pPr>
            <a:r>
              <a:rPr lang="en-US" sz="2990">
                <a:solidFill>
                  <a:srgbClr val="E5E1DA"/>
                </a:solidFill>
                <a:latin typeface="Lato"/>
                <a:ea typeface="Lato"/>
                <a:cs typeface="Lato"/>
                <a:sym typeface="Lato"/>
              </a:rPr>
              <a:t>Al</a:t>
            </a:r>
            <a:r>
              <a:rPr lang="en-US" sz="2990">
                <a:solidFill>
                  <a:srgbClr val="E5E1DA"/>
                </a:solidFill>
                <a:latin typeface="Lato"/>
                <a:ea typeface="Lato"/>
                <a:cs typeface="Lato"/>
                <a:sym typeface="Lato"/>
              </a:rPr>
              <a:t>l key relationships within the transaction history dataset were successfully validated. Customer IDs, Merchant IDs, UPI IDs, and Device IDs matched their respective master tables, confirming strong referential integrity and data consistency across the project database.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39125" y="2683004"/>
            <a:ext cx="12458207" cy="2460496"/>
          </a:xfrm>
          <a:custGeom>
            <a:avLst/>
            <a:gdLst/>
            <a:ahLst/>
            <a:cxnLst/>
            <a:rect r="r" b="b" t="t" l="l"/>
            <a:pathLst>
              <a:path h="2460496" w="12458207">
                <a:moveTo>
                  <a:pt x="0" y="0"/>
                </a:moveTo>
                <a:lnTo>
                  <a:pt x="12458207" y="0"/>
                </a:lnTo>
                <a:lnTo>
                  <a:pt x="12458207" y="2460496"/>
                </a:lnTo>
                <a:lnTo>
                  <a:pt x="0" y="2460496"/>
                </a:lnTo>
                <a:lnTo>
                  <a:pt x="0" y="0"/>
                </a:lnTo>
                <a:close/>
              </a:path>
            </a:pathLst>
          </a:custGeom>
          <a:blipFill>
            <a:blip r:embed="rId7"/>
            <a:stretch>
              <a:fillRect l="0" t="0" r="0" b="0"/>
            </a:stretch>
          </a:blipFill>
        </p:spPr>
      </p:sp>
      <p:sp>
        <p:nvSpPr>
          <p:cNvPr name="TextBox 7" id="7"/>
          <p:cNvSpPr txBox="true"/>
          <p:nvPr/>
        </p:nvSpPr>
        <p:spPr>
          <a:xfrm rot="0">
            <a:off x="1248773" y="301625"/>
            <a:ext cx="13038911" cy="1454150"/>
          </a:xfrm>
          <a:prstGeom prst="rect">
            <a:avLst/>
          </a:prstGeom>
        </p:spPr>
        <p:txBody>
          <a:bodyPr anchor="t" rtlCol="false" tIns="0" lIns="0" bIns="0" rIns="0">
            <a:spAutoFit/>
          </a:bodyPr>
          <a:lstStyle/>
          <a:p>
            <a:pPr algn="ctr">
              <a:lnSpc>
                <a:spcPts val="5500"/>
              </a:lnSpc>
            </a:pPr>
            <a:r>
              <a:rPr lang="en-US" b="true" sz="5000">
                <a:solidFill>
                  <a:srgbClr val="FFD944"/>
                </a:solidFill>
                <a:latin typeface="Poppins Bold"/>
                <a:ea typeface="Poppins Bold"/>
                <a:cs typeface="Poppins Bold"/>
                <a:sym typeface="Poppins Bold"/>
              </a:rPr>
              <a:t>TRANSACTION_ID VALID</a:t>
            </a:r>
            <a:r>
              <a:rPr lang="en-US" b="true" sz="5000">
                <a:solidFill>
                  <a:srgbClr val="FFD944"/>
                </a:solidFill>
                <a:latin typeface="Poppins Bold"/>
                <a:ea typeface="Poppins Bold"/>
                <a:cs typeface="Poppins Bold"/>
                <a:sym typeface="Poppins Bold"/>
              </a:rPr>
              <a:t>ATION IN FRAUD_ALERT_HISTORY</a:t>
            </a:r>
          </a:p>
        </p:txBody>
      </p:sp>
      <p:sp>
        <p:nvSpPr>
          <p:cNvPr name="TextBox 8" id="8"/>
          <p:cNvSpPr txBox="true"/>
          <p:nvPr/>
        </p:nvSpPr>
        <p:spPr>
          <a:xfrm rot="0">
            <a:off x="6988829" y="6965108"/>
            <a:ext cx="9822261" cy="2681219"/>
          </a:xfrm>
          <a:prstGeom prst="rect">
            <a:avLst/>
          </a:prstGeom>
        </p:spPr>
        <p:txBody>
          <a:bodyPr anchor="t" rtlCol="false" tIns="0" lIns="0" bIns="0" rIns="0">
            <a:spAutoFit/>
          </a:bodyPr>
          <a:lstStyle/>
          <a:p>
            <a:pPr algn="l">
              <a:lnSpc>
                <a:spcPts val="4746"/>
              </a:lnSpc>
            </a:pPr>
            <a:r>
              <a:rPr lang="en-US" sz="3390" b="true">
                <a:solidFill>
                  <a:srgbClr val="E5E1DA"/>
                </a:solidFill>
                <a:latin typeface="Lato Bold"/>
                <a:ea typeface="Lato Bold"/>
                <a:cs typeface="Lato Bold"/>
                <a:sym typeface="Lato Bold"/>
              </a:rPr>
              <a:t>Insights</a:t>
            </a:r>
          </a:p>
          <a:p>
            <a:pPr algn="l">
              <a:lnSpc>
                <a:spcPts val="4186"/>
              </a:lnSpc>
              <a:spcBef>
                <a:spcPct val="0"/>
              </a:spcBef>
            </a:pPr>
            <a:r>
              <a:rPr lang="en-US" sz="2990">
                <a:solidFill>
                  <a:srgbClr val="E5E1DA"/>
                </a:solidFill>
                <a:latin typeface="Lato"/>
                <a:ea typeface="Lato"/>
                <a:cs typeface="Lato"/>
                <a:sym typeface="Lato"/>
              </a:rPr>
              <a:t>All transaction IDs in fraud_alert_history were successfully matched with transaction history records. No invalid transaction references were found, confirming accurate fraud tracking and data consistency.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13713" y="2124110"/>
            <a:ext cx="11282344" cy="5939571"/>
          </a:xfrm>
          <a:custGeom>
            <a:avLst/>
            <a:gdLst/>
            <a:ahLst/>
            <a:cxnLst/>
            <a:rect r="r" b="b" t="t" l="l"/>
            <a:pathLst>
              <a:path h="5939571" w="11282344">
                <a:moveTo>
                  <a:pt x="0" y="0"/>
                </a:moveTo>
                <a:lnTo>
                  <a:pt x="11282344" y="0"/>
                </a:lnTo>
                <a:lnTo>
                  <a:pt x="11282344" y="5939571"/>
                </a:lnTo>
                <a:lnTo>
                  <a:pt x="0" y="5939571"/>
                </a:lnTo>
                <a:lnTo>
                  <a:pt x="0" y="0"/>
                </a:lnTo>
                <a:close/>
              </a:path>
            </a:pathLst>
          </a:custGeom>
          <a:blipFill>
            <a:blip r:embed="rId7"/>
            <a:stretch>
              <a:fillRect l="0" t="0" r="0" b="0"/>
            </a:stretch>
          </a:blipFill>
        </p:spPr>
      </p:sp>
      <p:sp>
        <p:nvSpPr>
          <p:cNvPr name="TextBox 7" id="7"/>
          <p:cNvSpPr txBox="true"/>
          <p:nvPr/>
        </p:nvSpPr>
        <p:spPr>
          <a:xfrm rot="0">
            <a:off x="1472405" y="406933"/>
            <a:ext cx="13038911" cy="987425"/>
          </a:xfrm>
          <a:prstGeom prst="rect">
            <a:avLst/>
          </a:prstGeom>
        </p:spPr>
        <p:txBody>
          <a:bodyPr anchor="t" rtlCol="false" tIns="0" lIns="0" bIns="0" rIns="0">
            <a:spAutoFit/>
          </a:bodyPr>
          <a:lstStyle/>
          <a:p>
            <a:pPr algn="ctr">
              <a:lnSpc>
                <a:spcPts val="7149"/>
              </a:lnSpc>
            </a:pPr>
            <a:r>
              <a:rPr lang="en-US" b="true" sz="6499">
                <a:solidFill>
                  <a:srgbClr val="FFD944"/>
                </a:solidFill>
                <a:latin typeface="Poppins Bold"/>
                <a:ea typeface="Poppins Bold"/>
                <a:cs typeface="Poppins Bold"/>
                <a:sym typeface="Poppins Bold"/>
              </a:rPr>
              <a:t>VALID</a:t>
            </a:r>
            <a:r>
              <a:rPr lang="en-US" b="true" sz="6499">
                <a:solidFill>
                  <a:srgbClr val="FFD944"/>
                </a:solidFill>
                <a:latin typeface="Poppins Bold"/>
                <a:ea typeface="Poppins Bold"/>
                <a:cs typeface="Poppins Bold"/>
                <a:sym typeface="Poppins Bold"/>
              </a:rPr>
              <a:t>ATION SUMMARY</a:t>
            </a:r>
          </a:p>
        </p:txBody>
      </p:sp>
      <p:sp>
        <p:nvSpPr>
          <p:cNvPr name="TextBox 8" id="8"/>
          <p:cNvSpPr txBox="true"/>
          <p:nvPr/>
        </p:nvSpPr>
        <p:spPr>
          <a:xfrm rot="0">
            <a:off x="12068765" y="5978407"/>
            <a:ext cx="5996943" cy="3842443"/>
          </a:xfrm>
          <a:prstGeom prst="rect">
            <a:avLst/>
          </a:prstGeom>
        </p:spPr>
        <p:txBody>
          <a:bodyPr anchor="t" rtlCol="false" tIns="0" lIns="0" bIns="0" rIns="0">
            <a:spAutoFit/>
          </a:bodyPr>
          <a:lstStyle/>
          <a:p>
            <a:pPr algn="l">
              <a:lnSpc>
                <a:spcPts val="4157"/>
              </a:lnSpc>
            </a:pPr>
            <a:r>
              <a:rPr lang="en-US" sz="2969" b="true">
                <a:solidFill>
                  <a:srgbClr val="E5E1DA"/>
                </a:solidFill>
                <a:latin typeface="Lato Bold"/>
                <a:ea typeface="Lato Bold"/>
                <a:cs typeface="Lato Bold"/>
                <a:sym typeface="Lato Bold"/>
              </a:rPr>
              <a:t>Insights</a:t>
            </a:r>
          </a:p>
          <a:p>
            <a:pPr algn="l">
              <a:lnSpc>
                <a:spcPts val="3815"/>
              </a:lnSpc>
              <a:spcBef>
                <a:spcPct val="0"/>
              </a:spcBef>
            </a:pPr>
            <a:r>
              <a:rPr lang="en-US" sz="2725">
                <a:solidFill>
                  <a:srgbClr val="E5E1DA"/>
                </a:solidFill>
                <a:latin typeface="Lato"/>
                <a:ea typeface="Lato"/>
                <a:cs typeface="Lato"/>
                <a:sym typeface="Lato"/>
              </a:rPr>
              <a:t>All critical data validation checks were successfully completed. Foreign key relationships were verified across all datasets, no major data quality issues were identified, and the dataset was confirmed to be clean, consistent, and analysis-ready.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248773" y="560070"/>
            <a:ext cx="13038911" cy="946785"/>
          </a:xfrm>
          <a:prstGeom prst="rect">
            <a:avLst/>
          </a:prstGeom>
        </p:spPr>
        <p:txBody>
          <a:bodyPr anchor="t" rtlCol="false" tIns="0" lIns="0" bIns="0" rIns="0">
            <a:spAutoFit/>
          </a:bodyPr>
          <a:lstStyle/>
          <a:p>
            <a:pPr algn="ctr">
              <a:lnSpc>
                <a:spcPts val="6929"/>
              </a:lnSpc>
            </a:pPr>
            <a:r>
              <a:rPr lang="en-US" b="true" sz="6299">
                <a:solidFill>
                  <a:srgbClr val="FFD944"/>
                </a:solidFill>
                <a:latin typeface="Poppins Bold"/>
                <a:ea typeface="Poppins Bold"/>
                <a:cs typeface="Poppins Bold"/>
                <a:sym typeface="Poppins Bold"/>
              </a:rPr>
              <a:t>KEY OBSERVATIONS</a:t>
            </a:r>
          </a:p>
        </p:txBody>
      </p:sp>
      <p:sp>
        <p:nvSpPr>
          <p:cNvPr name="TextBox 7" id="7"/>
          <p:cNvSpPr txBox="true"/>
          <p:nvPr/>
        </p:nvSpPr>
        <p:spPr>
          <a:xfrm rot="0">
            <a:off x="1087732" y="3463716"/>
            <a:ext cx="12564081" cy="2945225"/>
          </a:xfrm>
          <a:prstGeom prst="rect">
            <a:avLst/>
          </a:prstGeom>
        </p:spPr>
        <p:txBody>
          <a:bodyPr anchor="t" rtlCol="false" tIns="0" lIns="0" bIns="0" rIns="0">
            <a:spAutoFit/>
          </a:bodyPr>
          <a:lstStyle/>
          <a:p>
            <a:pPr algn="l" marL="730648" indent="-365324" lvl="1">
              <a:lnSpc>
                <a:spcPts val="4737"/>
              </a:lnSpc>
              <a:buFont typeface="Arial"/>
              <a:buChar char="•"/>
            </a:pPr>
            <a:r>
              <a:rPr lang="en-US" b="true" sz="3384">
                <a:solidFill>
                  <a:srgbClr val="E5E1DA"/>
                </a:solidFill>
                <a:latin typeface="Lato Bold"/>
                <a:ea typeface="Lato Bold"/>
                <a:cs typeface="Lato Bold"/>
                <a:sym typeface="Lato Bold"/>
              </a:rPr>
              <a:t>N</a:t>
            </a:r>
            <a:r>
              <a:rPr lang="en-US" b="true" sz="3384">
                <a:solidFill>
                  <a:srgbClr val="E5E1DA"/>
                </a:solidFill>
                <a:latin typeface="Lato Bold"/>
                <a:ea typeface="Lato Bold"/>
                <a:cs typeface="Lato Bold"/>
                <a:sym typeface="Lato Bold"/>
              </a:rPr>
              <a:t>o critical data quality issues found</a:t>
            </a:r>
          </a:p>
          <a:p>
            <a:pPr algn="l" marL="730648" indent="-365324" lvl="1">
              <a:lnSpc>
                <a:spcPts val="4737"/>
              </a:lnSpc>
              <a:buFont typeface="Arial"/>
              <a:buChar char="•"/>
            </a:pPr>
            <a:r>
              <a:rPr lang="en-US" b="true" sz="3384">
                <a:solidFill>
                  <a:srgbClr val="E5E1DA"/>
                </a:solidFill>
                <a:latin typeface="Lato Bold"/>
                <a:ea typeface="Lato Bold"/>
                <a:cs typeface="Lato Bold"/>
                <a:sym typeface="Lato Bold"/>
              </a:rPr>
              <a:t>Missing merchant_id expected in P2P transactions</a:t>
            </a:r>
          </a:p>
          <a:p>
            <a:pPr algn="l" marL="730648" indent="-365324" lvl="1">
              <a:lnSpc>
                <a:spcPts val="4737"/>
              </a:lnSpc>
              <a:buFont typeface="Arial"/>
              <a:buChar char="•"/>
            </a:pPr>
            <a:r>
              <a:rPr lang="en-US" b="true" sz="3384">
                <a:solidFill>
                  <a:srgbClr val="E5E1DA"/>
                </a:solidFill>
                <a:latin typeface="Lato Bold"/>
                <a:ea typeface="Lato Bold"/>
                <a:cs typeface="Lato Bold"/>
                <a:sym typeface="Lato Bold"/>
              </a:rPr>
              <a:t>Missing failure_reason valid for successful transactions</a:t>
            </a:r>
          </a:p>
          <a:p>
            <a:pPr algn="l" marL="730648" indent="-365324" lvl="1">
              <a:lnSpc>
                <a:spcPts val="4737"/>
              </a:lnSpc>
              <a:buFont typeface="Arial"/>
              <a:buChar char="•"/>
            </a:pPr>
            <a:r>
              <a:rPr lang="en-US" b="true" sz="3384">
                <a:solidFill>
                  <a:srgbClr val="E5E1DA"/>
                </a:solidFill>
                <a:latin typeface="Lato Bold"/>
                <a:ea typeface="Lato Bold"/>
                <a:cs typeface="Lato Bold"/>
                <a:sym typeface="Lato Bold"/>
              </a:rPr>
              <a:t>Missing resolution_date indicates unresolved alerts</a:t>
            </a:r>
          </a:p>
          <a:p>
            <a:pPr algn="l">
              <a:lnSpc>
                <a:spcPts val="449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850316" y="560070"/>
            <a:ext cx="13038911" cy="946785"/>
          </a:xfrm>
          <a:prstGeom prst="rect">
            <a:avLst/>
          </a:prstGeom>
        </p:spPr>
        <p:txBody>
          <a:bodyPr anchor="t" rtlCol="false" tIns="0" lIns="0" bIns="0" rIns="0">
            <a:spAutoFit/>
          </a:bodyPr>
          <a:lstStyle/>
          <a:p>
            <a:pPr algn="ctr">
              <a:lnSpc>
                <a:spcPts val="6929"/>
              </a:lnSpc>
            </a:pPr>
            <a:r>
              <a:rPr lang="en-US" b="true" sz="6299">
                <a:solidFill>
                  <a:srgbClr val="FFD944"/>
                </a:solidFill>
                <a:latin typeface="Poppins Bold"/>
                <a:ea typeface="Poppins Bold"/>
                <a:cs typeface="Poppins Bold"/>
                <a:sym typeface="Poppins Bold"/>
              </a:rPr>
              <a:t>CONCLUSION</a:t>
            </a:r>
          </a:p>
        </p:txBody>
      </p:sp>
      <p:sp>
        <p:nvSpPr>
          <p:cNvPr name="TextBox 7" id="7"/>
          <p:cNvSpPr txBox="true"/>
          <p:nvPr/>
        </p:nvSpPr>
        <p:spPr>
          <a:xfrm rot="0">
            <a:off x="1248773" y="2513282"/>
            <a:ext cx="14492904" cy="7005415"/>
          </a:xfrm>
          <a:prstGeom prst="rect">
            <a:avLst/>
          </a:prstGeom>
        </p:spPr>
        <p:txBody>
          <a:bodyPr anchor="t" rtlCol="false" tIns="0" lIns="0" bIns="0" rIns="0">
            <a:spAutoFit/>
          </a:bodyPr>
          <a:lstStyle/>
          <a:p>
            <a:pPr algn="l" marL="709058" indent="-354529" lvl="1">
              <a:lnSpc>
                <a:spcPts val="4597"/>
              </a:lnSpc>
              <a:buFont typeface="Arial"/>
              <a:buChar char="•"/>
            </a:pPr>
            <a:r>
              <a:rPr lang="en-US" b="true" sz="3284">
                <a:solidFill>
                  <a:srgbClr val="E5E1DA"/>
                </a:solidFill>
                <a:latin typeface="Lato Bold"/>
                <a:ea typeface="Lato Bold"/>
                <a:cs typeface="Lato Bold"/>
                <a:sym typeface="Lato Bold"/>
              </a:rPr>
              <a:t>All</a:t>
            </a:r>
            <a:r>
              <a:rPr lang="en-US" b="true" sz="3284">
                <a:solidFill>
                  <a:srgbClr val="E5E1DA"/>
                </a:solidFill>
                <a:latin typeface="Lato Bold"/>
                <a:ea typeface="Lato Bold"/>
                <a:cs typeface="Lato Bold"/>
                <a:sym typeface="Lato Bold"/>
              </a:rPr>
              <a:t> major foreign key relations</a:t>
            </a:r>
            <a:r>
              <a:rPr lang="en-US" b="true" sz="3284">
                <a:solidFill>
                  <a:srgbClr val="E5E1DA"/>
                </a:solidFill>
                <a:latin typeface="Lato Bold"/>
                <a:ea typeface="Lato Bold"/>
                <a:cs typeface="Lato Bold"/>
                <a:sym typeface="Lato Bold"/>
              </a:rPr>
              <a:t>h</a:t>
            </a:r>
            <a:r>
              <a:rPr lang="en-US" b="true" sz="3284">
                <a:solidFill>
                  <a:srgbClr val="E5E1DA"/>
                </a:solidFill>
                <a:latin typeface="Lato Bold"/>
                <a:ea typeface="Lato Bold"/>
                <a:cs typeface="Lato Bold"/>
                <a:sym typeface="Lato Bold"/>
              </a:rPr>
              <a:t>ips validated successfully</a:t>
            </a:r>
          </a:p>
          <a:p>
            <a:pPr algn="l" marL="709058" indent="-354529" lvl="1">
              <a:lnSpc>
                <a:spcPts val="4597"/>
              </a:lnSpc>
              <a:buFont typeface="Arial"/>
              <a:buChar char="•"/>
            </a:pPr>
            <a:r>
              <a:rPr lang="en-US" b="true" sz="3284">
                <a:solidFill>
                  <a:srgbClr val="E5E1DA"/>
                </a:solidFill>
                <a:latin typeface="Lato Bold"/>
                <a:ea typeface="Lato Bold"/>
                <a:cs typeface="Lato Bold"/>
                <a:sym typeface="Lato Bold"/>
              </a:rPr>
              <a:t>Dataset consistency verified across all tables</a:t>
            </a:r>
          </a:p>
          <a:p>
            <a:pPr algn="l" marL="709058" indent="-354529" lvl="1">
              <a:lnSpc>
                <a:spcPts val="4597"/>
              </a:lnSpc>
              <a:buFont typeface="Arial"/>
              <a:buChar char="•"/>
            </a:pPr>
            <a:r>
              <a:rPr lang="en-US" b="true" sz="3284">
                <a:solidFill>
                  <a:srgbClr val="E5E1DA"/>
                </a:solidFill>
                <a:latin typeface="Lato Bold"/>
                <a:ea typeface="Lato Bold"/>
                <a:cs typeface="Lato Bold"/>
                <a:sym typeface="Lato Bold"/>
              </a:rPr>
              <a:t>No critical errors detected</a:t>
            </a:r>
          </a:p>
          <a:p>
            <a:pPr algn="l" marL="709058" indent="-354529" lvl="1">
              <a:lnSpc>
                <a:spcPts val="4597"/>
              </a:lnSpc>
              <a:buFont typeface="Arial"/>
              <a:buChar char="•"/>
            </a:pPr>
            <a:r>
              <a:rPr lang="en-US" b="true" sz="3284">
                <a:solidFill>
                  <a:srgbClr val="E5E1DA"/>
                </a:solidFill>
                <a:latin typeface="Lato Bold"/>
                <a:ea typeface="Lato Bold"/>
                <a:cs typeface="Lato Bold"/>
                <a:sym typeface="Lato Bold"/>
              </a:rPr>
              <a:t>Data approved for Python, SQL, and Power BI analysis|</a:t>
            </a:r>
          </a:p>
          <a:p>
            <a:pPr algn="l">
              <a:lnSpc>
                <a:spcPts val="4597"/>
              </a:lnSpc>
            </a:pPr>
          </a:p>
          <a:p>
            <a:pPr algn="l">
              <a:lnSpc>
                <a:spcPts val="4597"/>
              </a:lnSpc>
            </a:pPr>
          </a:p>
          <a:p>
            <a:pPr algn="l">
              <a:lnSpc>
                <a:spcPts val="4597"/>
              </a:lnSpc>
            </a:pPr>
          </a:p>
          <a:p>
            <a:pPr algn="l">
              <a:lnSpc>
                <a:spcPts val="4877"/>
              </a:lnSpc>
            </a:pPr>
            <a:r>
              <a:rPr lang="en-US" sz="3484" b="true">
                <a:solidFill>
                  <a:srgbClr val="E5E1DA"/>
                </a:solidFill>
                <a:latin typeface="Lato Bold"/>
                <a:ea typeface="Lato Bold"/>
                <a:cs typeface="Lato Bold"/>
                <a:sym typeface="Lato Bold"/>
              </a:rPr>
              <a:t>The dataset was found to be reliable, consistent, and ready for advanced analytics and dashboard development.</a:t>
            </a:r>
          </a:p>
          <a:p>
            <a:pPr algn="l">
              <a:lnSpc>
                <a:spcPts val="4597"/>
              </a:lnSpc>
            </a:pPr>
          </a:p>
          <a:p>
            <a:pPr algn="l">
              <a:lnSpc>
                <a:spcPts val="4597"/>
              </a:lnSpc>
            </a:pPr>
          </a:p>
          <a:p>
            <a:pPr algn="l">
              <a:lnSpc>
                <a:spcPts val="435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true" rot="-1542318">
            <a:off x="14028038" y="-1408640"/>
            <a:ext cx="4900922" cy="5255680"/>
          </a:xfrm>
          <a:custGeom>
            <a:avLst/>
            <a:gdLst/>
            <a:ahLst/>
            <a:cxnLst/>
            <a:rect r="r" b="b" t="t" l="l"/>
            <a:pathLst>
              <a:path h="5255680" w="4900922">
                <a:moveTo>
                  <a:pt x="0" y="5255681"/>
                </a:moveTo>
                <a:lnTo>
                  <a:pt x="4900922" y="5255681"/>
                </a:lnTo>
                <a:lnTo>
                  <a:pt x="4900922" y="0"/>
                </a:lnTo>
                <a:lnTo>
                  <a:pt x="0" y="0"/>
                </a:lnTo>
                <a:lnTo>
                  <a:pt x="0" y="5255681"/>
                </a:lnTo>
                <a:close/>
              </a:path>
            </a:pathLst>
          </a:custGeom>
          <a:blipFill>
            <a:blip r:embed="rId3"/>
            <a:stretch>
              <a:fillRect l="0" t="0" r="0" b="0"/>
            </a:stretch>
          </a:blipFill>
        </p:spPr>
      </p:sp>
      <p:sp>
        <p:nvSpPr>
          <p:cNvPr name="Freeform 4" id="4"/>
          <p:cNvSpPr/>
          <p:nvPr/>
        </p:nvSpPr>
        <p:spPr>
          <a:xfrm flipH="false" flipV="false" rot="0">
            <a:off x="-1625087" y="8793433"/>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4"/>
            <a:stretch>
              <a:fillRect l="-18302" t="0" r="0" b="-143185"/>
            </a:stretch>
          </a:blipFill>
        </p:spPr>
      </p:sp>
      <p:sp>
        <p:nvSpPr>
          <p:cNvPr name="Freeform 5" id="5"/>
          <p:cNvSpPr/>
          <p:nvPr/>
        </p:nvSpPr>
        <p:spPr>
          <a:xfrm flipH="false" flipV="false" rot="0">
            <a:off x="16362880" y="497937"/>
            <a:ext cx="896420" cy="896420"/>
          </a:xfrm>
          <a:custGeom>
            <a:avLst/>
            <a:gdLst/>
            <a:ahLst/>
            <a:cxnLst/>
            <a:rect r="r" b="b" t="t" l="l"/>
            <a:pathLst>
              <a:path h="896420" w="896420">
                <a:moveTo>
                  <a:pt x="0" y="0"/>
                </a:moveTo>
                <a:lnTo>
                  <a:pt x="896420" y="0"/>
                </a:lnTo>
                <a:lnTo>
                  <a:pt x="896420" y="896421"/>
                </a:lnTo>
                <a:lnTo>
                  <a:pt x="0" y="896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928665" y="645697"/>
            <a:ext cx="12202071" cy="995428"/>
            <a:chOff x="0" y="0"/>
            <a:chExt cx="3213714" cy="262170"/>
          </a:xfrm>
        </p:grpSpPr>
        <p:sp>
          <p:nvSpPr>
            <p:cNvPr name="Freeform 7" id="7"/>
            <p:cNvSpPr/>
            <p:nvPr/>
          </p:nvSpPr>
          <p:spPr>
            <a:xfrm flipH="false" flipV="false" rot="0">
              <a:off x="0" y="0"/>
              <a:ext cx="3213714" cy="262170"/>
            </a:xfrm>
            <a:custGeom>
              <a:avLst/>
              <a:gdLst/>
              <a:ahLst/>
              <a:cxnLst/>
              <a:rect r="r" b="b" t="t" l="l"/>
              <a:pathLst>
                <a:path h="262170" w="3213714">
                  <a:moveTo>
                    <a:pt x="40606" y="0"/>
                  </a:moveTo>
                  <a:lnTo>
                    <a:pt x="3173108" y="0"/>
                  </a:lnTo>
                  <a:cubicBezTo>
                    <a:pt x="3195534" y="0"/>
                    <a:pt x="3213714" y="18180"/>
                    <a:pt x="3213714" y="40606"/>
                  </a:cubicBezTo>
                  <a:lnTo>
                    <a:pt x="3213714" y="221564"/>
                  </a:lnTo>
                  <a:cubicBezTo>
                    <a:pt x="3213714" y="243990"/>
                    <a:pt x="3195534" y="262170"/>
                    <a:pt x="3173108" y="262170"/>
                  </a:cubicBezTo>
                  <a:lnTo>
                    <a:pt x="40606" y="262170"/>
                  </a:lnTo>
                  <a:cubicBezTo>
                    <a:pt x="29837" y="262170"/>
                    <a:pt x="19509" y="257892"/>
                    <a:pt x="11893" y="250277"/>
                  </a:cubicBezTo>
                  <a:cubicBezTo>
                    <a:pt x="4278" y="242662"/>
                    <a:pt x="0" y="232333"/>
                    <a:pt x="0" y="221564"/>
                  </a:cubicBezTo>
                  <a:lnTo>
                    <a:pt x="0" y="40606"/>
                  </a:lnTo>
                  <a:cubicBezTo>
                    <a:pt x="0" y="18180"/>
                    <a:pt x="18180" y="0"/>
                    <a:pt x="40606" y="0"/>
                  </a:cubicBezTo>
                  <a:close/>
                </a:path>
              </a:pathLst>
            </a:custGeom>
            <a:ln w="38100" cap="rnd">
              <a:solidFill>
                <a:srgbClr val="E5E1DA"/>
              </a:solidFill>
              <a:prstDash val="solid"/>
              <a:round/>
            </a:ln>
          </p:spPr>
        </p:sp>
        <p:sp>
          <p:nvSpPr>
            <p:cNvPr name="TextBox 8" id="8"/>
            <p:cNvSpPr txBox="true"/>
            <p:nvPr/>
          </p:nvSpPr>
          <p:spPr>
            <a:xfrm>
              <a:off x="0" y="-38100"/>
              <a:ext cx="3213714" cy="30027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928665" y="3213525"/>
            <a:ext cx="11411477" cy="2203560"/>
          </a:xfrm>
          <a:prstGeom prst="rect">
            <a:avLst/>
          </a:prstGeom>
        </p:spPr>
        <p:txBody>
          <a:bodyPr anchor="t" rtlCol="false" tIns="0" lIns="0" bIns="0" rIns="0">
            <a:spAutoFit/>
          </a:bodyPr>
          <a:lstStyle/>
          <a:p>
            <a:pPr algn="l">
              <a:lnSpc>
                <a:spcPts val="15959"/>
              </a:lnSpc>
            </a:pPr>
            <a:r>
              <a:rPr lang="en-US" b="true" sz="14508">
                <a:solidFill>
                  <a:srgbClr val="FFD944"/>
                </a:solidFill>
                <a:latin typeface="Poppins Bold"/>
                <a:ea typeface="Poppins Bold"/>
                <a:cs typeface="Poppins Bold"/>
                <a:sym typeface="Poppins Bold"/>
              </a:rPr>
              <a:t>THANK YOU</a:t>
            </a:r>
            <a:r>
              <a:rPr lang="en-US" sz="14508" b="true">
                <a:solidFill>
                  <a:srgbClr val="FFD944"/>
                </a:solidFill>
                <a:latin typeface="Poppins Bold"/>
                <a:ea typeface="Poppins Bold"/>
                <a:cs typeface="Poppins Bold"/>
                <a:sym typeface="Poppins Bold"/>
              </a:rPr>
              <a:t> </a:t>
            </a:r>
          </a:p>
        </p:txBody>
      </p:sp>
      <p:sp>
        <p:nvSpPr>
          <p:cNvPr name="TextBox 11" id="11"/>
          <p:cNvSpPr txBox="true"/>
          <p:nvPr/>
        </p:nvSpPr>
        <p:spPr>
          <a:xfrm rot="0">
            <a:off x="1896669" y="882426"/>
            <a:ext cx="4535372" cy="464820"/>
          </a:xfrm>
          <a:prstGeom prst="rect">
            <a:avLst/>
          </a:prstGeom>
        </p:spPr>
        <p:txBody>
          <a:bodyPr anchor="t" rtlCol="false" tIns="0" lIns="0" bIns="0" rIns="0">
            <a:spAutoFit/>
          </a:bodyPr>
          <a:lstStyle/>
          <a:p>
            <a:pPr algn="l">
              <a:lnSpc>
                <a:spcPts val="3779"/>
              </a:lnSpc>
              <a:spcBef>
                <a:spcPct val="0"/>
              </a:spcBef>
            </a:pPr>
            <a:r>
              <a:rPr lang="en-US" sz="2700">
                <a:solidFill>
                  <a:srgbClr val="E5E1DA"/>
                </a:solidFill>
                <a:latin typeface="Lato"/>
                <a:ea typeface="Lato"/>
                <a:cs typeface="Lato"/>
                <a:sym typeface="Lato"/>
              </a:rPr>
              <a:t>Capstone Project</a:t>
            </a:r>
          </a:p>
        </p:txBody>
      </p:sp>
      <p:sp>
        <p:nvSpPr>
          <p:cNvPr name="TextBox 12" id="12"/>
          <p:cNvSpPr txBox="true"/>
          <p:nvPr/>
        </p:nvSpPr>
        <p:spPr>
          <a:xfrm rot="0">
            <a:off x="928665" y="7119480"/>
            <a:ext cx="6096698" cy="1690370"/>
          </a:xfrm>
          <a:prstGeom prst="rect">
            <a:avLst/>
          </a:prstGeom>
        </p:spPr>
        <p:txBody>
          <a:bodyPr anchor="t" rtlCol="false" tIns="0" lIns="0" bIns="0" rIns="0">
            <a:spAutoFit/>
          </a:bodyPr>
          <a:lstStyle/>
          <a:p>
            <a:pPr algn="l">
              <a:lnSpc>
                <a:spcPts val="4480"/>
              </a:lnSpc>
            </a:pPr>
            <a:r>
              <a:rPr lang="en-US" sz="3200" b="true">
                <a:solidFill>
                  <a:srgbClr val="FFFFFF"/>
                </a:solidFill>
                <a:latin typeface="Poppins Bold"/>
                <a:ea typeface="Poppins Bold"/>
                <a:cs typeface="Poppins Bold"/>
                <a:sym typeface="Poppins Bold"/>
              </a:rPr>
              <a:t>Prepared By:</a:t>
            </a:r>
          </a:p>
          <a:p>
            <a:pPr algn="l">
              <a:lnSpc>
                <a:spcPts val="4480"/>
              </a:lnSpc>
            </a:pPr>
            <a:r>
              <a:rPr lang="en-US" sz="3200" b="true">
                <a:solidFill>
                  <a:srgbClr val="FFFFFF"/>
                </a:solidFill>
                <a:latin typeface="Poppins Bold"/>
                <a:ea typeface="Poppins Bold"/>
                <a:cs typeface="Poppins Bold"/>
                <a:sym typeface="Poppins Bold"/>
              </a:rPr>
              <a:t>Vishwajeet Kumar Gupta</a:t>
            </a:r>
          </a:p>
          <a:p>
            <a:pPr algn="l">
              <a:lnSpc>
                <a:spcPts val="4480"/>
              </a:lnSpc>
              <a:spcBef>
                <a:spcPct val="0"/>
              </a:spcBef>
            </a:pPr>
          </a:p>
        </p:txBody>
      </p:sp>
      <p:sp>
        <p:nvSpPr>
          <p:cNvPr name="TextBox 13" id="13"/>
          <p:cNvSpPr txBox="true"/>
          <p:nvPr/>
        </p:nvSpPr>
        <p:spPr>
          <a:xfrm rot="0">
            <a:off x="928665" y="5417085"/>
            <a:ext cx="11411477" cy="831853"/>
          </a:xfrm>
          <a:prstGeom prst="rect">
            <a:avLst/>
          </a:prstGeom>
        </p:spPr>
        <p:txBody>
          <a:bodyPr anchor="t" rtlCol="false" tIns="0" lIns="0" bIns="0" rIns="0">
            <a:spAutoFit/>
          </a:bodyPr>
          <a:lstStyle/>
          <a:p>
            <a:pPr algn="l">
              <a:lnSpc>
                <a:spcPts val="6050"/>
              </a:lnSpc>
            </a:pPr>
            <a:r>
              <a:rPr lang="en-US" sz="5500">
                <a:solidFill>
                  <a:srgbClr val="FFD944"/>
                </a:solidFill>
                <a:latin typeface="Poppins"/>
                <a:ea typeface="Poppins"/>
                <a:cs typeface="Poppins"/>
                <a:sym typeface="Poppins"/>
              </a:rPr>
              <a:t>for your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DAHL7rx9eMY</dc:identifier>
  <dcterms:modified xsi:type="dcterms:W3CDTF">2011-08-01T06:04:30Z</dcterms:modified>
  <cp:revision>1</cp:revision>
  <dc:title>UPI Transaction Analysis - Excel Data Validation</dc:title>
</cp:coreProperties>
</file>